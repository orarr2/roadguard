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t layer" id="{9db814b8-0e25-1f7a-99a7-4d6738b9098d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4D8"/>
                </a:solidFill>
              </a:rPr>
              <a:t>RoadGuard - AI agent layer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4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B1F44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RoadGuard - AI agent layer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4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RoadGuard: the AI agent layer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0EE"/>
                </a:solidFill>
              </a:rPr>
              <a:t>Road-damage triage for a smart city: who the agents are, why they are justified, what they must deliver</a:t>
            </a:r>
            <a:endParaRPr lang="en-US" sz="1600" dirty="0"/>
          </a:p>
        </p:txBody>
      </p:sp>
      <p:sp>
        <p:nvSpPr>
          <p:cNvPr id="4" name="Card 1"/>
          <p:cNvSpPr/>
          <p:nvPr/>
        </p:nvSpPr>
        <p:spPr>
          <a:xfrm>
            <a:off x="457200" y="19659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132B5C"/>
          </a:solidFill>
          <a:ln w="12700">
            <a:solidFill>
              <a:srgbClr val="132B5C"/>
            </a:solidFill>
            <a:prstDash val="solid"/>
          </a:ln>
        </p:spPr>
      </p:sp>
      <p:sp>
        <p:nvSpPr>
          <p:cNvPr id="5" name="Badge 1"/>
          <p:cNvSpPr/>
          <p:nvPr/>
        </p:nvSpPr>
        <p:spPr>
          <a:xfrm>
            <a:off x="685800" y="219456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Badge text 1"/>
          <p:cNvSpPr txBox="1"/>
          <p:nvPr/>
        </p:nvSpPr>
        <p:spPr>
          <a:xfrm>
            <a:off x="6858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 head 1"/>
          <p:cNvSpPr txBox="1"/>
          <p:nvPr/>
        </p:nvSpPr>
        <p:spPr>
          <a:xfrm>
            <a:off x="128016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Project context</a:t>
            </a:r>
            <a:endParaRPr lang="en-US" sz="1700" dirty="0"/>
          </a:p>
        </p:txBody>
      </p:sp>
      <p:sp>
        <p:nvSpPr>
          <p:cNvPr id="8" name="Card body 1"/>
          <p:cNvSpPr txBox="1"/>
          <p:nvPr/>
        </p:nvSpPr>
        <p:spPr>
          <a:xfrm>
            <a:off x="685800" y="274320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CE6F5"/>
                </a:solidFill>
              </a:rPr>
              <a:t>A citizen photographs road damage with a phone. YOLOv8n detects the four RDD2022 classes (D00, D10, D20, D40) inside the browser. The agent layer then decides what the city does next, and keeps a human in charge of every urgent case.</a:t>
            </a:r>
            <a:endParaRPr lang="en-US" sz="1250" dirty="0"/>
          </a:p>
        </p:txBody>
      </p:sp>
      <p:sp>
        <p:nvSpPr>
          <p:cNvPr id="9" name="Card 2"/>
          <p:cNvSpPr/>
          <p:nvPr/>
        </p:nvSpPr>
        <p:spPr>
          <a:xfrm>
            <a:off x="6291072" y="19659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132B5C"/>
          </a:solidFill>
          <a:ln w="12700">
            <a:solidFill>
              <a:srgbClr val="132B5C"/>
            </a:solidFill>
            <a:prstDash val="solid"/>
          </a:ln>
        </p:spPr>
      </p:sp>
      <p:sp>
        <p:nvSpPr>
          <p:cNvPr id="10" name="Badge 2"/>
          <p:cNvSpPr/>
          <p:nvPr/>
        </p:nvSpPr>
        <p:spPr>
          <a:xfrm>
            <a:off x="6519672" y="21945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Badge text 2"/>
          <p:cNvSpPr txBox="1"/>
          <p:nvPr/>
        </p:nvSpPr>
        <p:spPr>
          <a:xfrm>
            <a:off x="651967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 head 2"/>
          <p:cNvSpPr txBox="1"/>
          <p:nvPr/>
        </p:nvSpPr>
        <p:spPr>
          <a:xfrm>
            <a:off x="7114032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Who the agents are</a:t>
            </a:r>
            <a:endParaRPr lang="en-US" sz="1700" dirty="0"/>
          </a:p>
        </p:txBody>
      </p:sp>
      <p:sp>
        <p:nvSpPr>
          <p:cNvPr id="13" name="Card body 2"/>
          <p:cNvSpPr txBox="1"/>
          <p:nvPr/>
        </p:nvSpPr>
        <p:spPr>
          <a:xfrm>
            <a:off x="6519672" y="274320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CE6F5"/>
                </a:solidFill>
              </a:rPr>
              <a:t>A LangGraph orchestrator-worker graph: a Python supervisor routes sanitize -&gt; signal_extractor -&gt; profile_builder -&gt; rag_retriever -&gt; decision -&gt; approval gate. Decision is the one true agent: it plans with ReAct, chooses its tools and carries state. The other nodes are LLM-assisted workers with deterministic fallbacks.</a:t>
            </a:r>
            <a:endParaRPr lang="en-US" sz="1250" dirty="0"/>
          </a:p>
        </p:txBody>
      </p:sp>
      <p:sp>
        <p:nvSpPr>
          <p:cNvPr id="14" name="Card 3"/>
          <p:cNvSpPr/>
          <p:nvPr/>
        </p:nvSpPr>
        <p:spPr>
          <a:xfrm>
            <a:off x="457200" y="42062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132B5C"/>
          </a:solidFill>
          <a:ln w="12700">
            <a:solidFill>
              <a:srgbClr val="132B5C"/>
            </a:solidFill>
            <a:prstDash val="solid"/>
          </a:ln>
        </p:spPr>
      </p:sp>
      <p:sp>
        <p:nvSpPr>
          <p:cNvPr id="15" name="Badge 3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Badge text 3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 head 3"/>
          <p:cNvSpPr txBox="1"/>
          <p:nvPr/>
        </p:nvSpPr>
        <p:spPr>
          <a:xfrm>
            <a:off x="1280160" y="4434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Why an LLM is justified here</a:t>
            </a:r>
            <a:endParaRPr lang="en-US" sz="1700" dirty="0"/>
          </a:p>
        </p:txBody>
      </p:sp>
      <p:sp>
        <p:nvSpPr>
          <p:cNvPr id="18" name="Card body 3"/>
          <p:cNvSpPr txBox="1"/>
          <p:nvPr/>
        </p:nvSpPr>
        <p:spPr>
          <a:xfrm>
            <a:off x="685800" y="498348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CE6F5"/>
                </a:solidFill>
              </a:rPr>
              <a:t>Free text from reporters and a verdict that cites repair standards need language understanding. Everything that can be a rule is a rule: the priority tree, the urgent and human-review floors, the routing. Local models on the VM keep the running cost at zero.</a:t>
            </a:r>
            <a:endParaRPr lang="en-US" sz="1250" dirty="0"/>
          </a:p>
        </p:txBody>
      </p:sp>
      <p:sp>
        <p:nvSpPr>
          <p:cNvPr id="19" name="Card 4"/>
          <p:cNvSpPr/>
          <p:nvPr/>
        </p:nvSpPr>
        <p:spPr>
          <a:xfrm>
            <a:off x="6291072" y="42062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132B5C"/>
          </a:solidFill>
          <a:ln w="12700">
            <a:solidFill>
              <a:srgbClr val="132B5C"/>
            </a:solidFill>
            <a:prstDash val="solid"/>
          </a:ln>
        </p:spPr>
      </p:sp>
      <p:sp>
        <p:nvSpPr>
          <p:cNvPr id="20" name="Badge 4"/>
          <p:cNvSpPr/>
          <p:nvPr/>
        </p:nvSpPr>
        <p:spPr>
          <a:xfrm>
            <a:off x="6519672" y="443484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Badge text 4"/>
          <p:cNvSpPr txBox="1"/>
          <p:nvPr/>
        </p:nvSpPr>
        <p:spPr>
          <a:xfrm>
            <a:off x="651967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Card head 4"/>
          <p:cNvSpPr txBox="1"/>
          <p:nvPr/>
        </p:nvSpPr>
        <p:spPr>
          <a:xfrm>
            <a:off x="7114032" y="4434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Goals</a:t>
            </a:r>
            <a:endParaRPr lang="en-US" sz="1700" dirty="0"/>
          </a:p>
        </p:txBody>
      </p:sp>
      <p:sp>
        <p:nvSpPr>
          <p:cNvPr id="23" name="Card body 4"/>
          <p:cNvSpPr txBox="1"/>
          <p:nvPr/>
        </p:nvSpPr>
        <p:spPr>
          <a:xfrm>
            <a:off x="6519672" y="498348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CE6F5"/>
                </a:solidFill>
              </a:rPr>
              <a:t>One of four actions - urgent, standard, needs more evidence, human review - with a priority, a rationale grounded in the maintenance standards, an auditable trace of every node, and no write that a human did not approve.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4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</a:rPr>
              <a:t>Control table: who decides, which tools, what may be written</a:t>
            </a:r>
            <a:endParaRPr lang="en-US" sz="3000" dirty="0"/>
          </a:p>
        </p:txBody>
      </p:sp>
      <p:graphicFrame>
        <p:nvGraphicFramePr>
          <p:cNvPr id="3" name="Contro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45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063240"/>
                <a:gridCol w="1325880"/>
                <a:gridCol w="2468880"/>
                <a:gridCol w="1325880"/>
                <a:gridCol w="960120"/>
                <a:gridCol w="804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Node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LLM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Tools (least privilege)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May write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Next step decided by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Level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sanitize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Regex boundary defence on the location, the OCR text and the reporter text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1 rule-based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signal_extractor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Reporter free text -&gt; structured signals (class, lane, road, depth, swerving)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yes, JSON; regex fallback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2 LLM-assisted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supervisor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Python router; enforces four budget caps: iterations, tool hops, cost, wall clock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1 rule-based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profile_builder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YOLO + image quality + metadata -&gt; hazard profile (class, severity, confidence)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yes; may only lower confidence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lookup_similar_cases (read)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2 LLM-assisted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rag_retriever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ChromaDB lookup of repair standards; passages neutralised before any model sees them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yes; labels coverage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query_repair_standards (read)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2 LLM-assisted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decision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ReAct loop (max 2 tool hops): action, priority, rationale, citations; urgent and human-review floors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yes (qwen2.5:7b)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check_hazard_severity, request_additional_evidence, create_draft_work_order, flag_for_urgent_review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evidence request, DRAFT work order, approval row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the model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3 agent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approval_gate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Pending approval row + signed link for the supervisor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approvals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1 rule-based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await_evidence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Pauses the graph on a checkpoint until the reporter answers, then resumes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code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</a:rPr>
                        <a:t>1 rule-based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Every LLM call runs on the local Ollama model qwen2.5:7b; a four-model panel (qwen2.5:7b, llama3.1:8b, qwen2.5:3b, gemma2:2b) is configured for the vote mode. Levels: 1 the code runs a fixed sequence, 2 the model answers but the code fixes the next step, 3 the model chooses its next step.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</a:rPr>
              <a:t>Guardrails, evidence and integration</a:t>
            </a:r>
            <a:endParaRPr lang="en-US" sz="3000" dirty="0"/>
          </a:p>
        </p:txBody>
      </p:sp>
      <p:sp>
        <p:nvSpPr>
          <p:cNvPr id="3" name="Column Guardrails"/>
          <p:cNvSpPr/>
          <p:nvPr/>
        </p:nvSpPr>
        <p:spPr>
          <a:xfrm>
            <a:off x="457200" y="1188720"/>
            <a:ext cx="3611880" cy="5074920"/>
          </a:xfrm>
          <a:prstGeom prst="roundRect">
            <a:avLst>
              <a:gd name="adj" fmla="val 3038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4" name="Dot Guardrails"/>
          <p:cNvSpPr/>
          <p:nvPr/>
        </p:nvSpPr>
        <p:spPr>
          <a:xfrm>
            <a:off x="685800" y="1417320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Head Guardrails"/>
          <p:cNvSpPr txBox="1"/>
          <p:nvPr/>
        </p:nvSpPr>
        <p:spPr>
          <a:xfrm>
            <a:off x="1234440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44"/>
                </a:solidFill>
              </a:rPr>
              <a:t>Guardrails</a:t>
            </a:r>
            <a:endParaRPr lang="en-US" sz="1800" dirty="0"/>
          </a:p>
        </p:txBody>
      </p:sp>
      <p:sp>
        <p:nvSpPr>
          <p:cNvPr id="6" name="Items Guardrails"/>
          <p:cNvSpPr txBox="1"/>
          <p:nvPr/>
        </p:nvSpPr>
        <p:spPr>
          <a:xfrm>
            <a:off x="685800" y="201168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Human approval before any urgent or human-review case moves 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Deterministic floors: the rule tree's urgent / human_review verdict overrides the model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Grounding check: cited sources must come from the tools' results, otherwise the rule tree decides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Boundary defence: injection patterns neutralised in the location, OCR text, reporter text and RAG passages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Budget caps: iterations, tool hops, cost, wall clock (240 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Least privilege: each node sees only its tools; writes happen only through Decision's tools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Evidence loop: one request per hazard, the graph pauses on a checkpoint and resumes on the next upload</a:t>
            </a:r>
            <a:endParaRPr lang="en-US" sz="1150" dirty="0"/>
          </a:p>
        </p:txBody>
      </p:sp>
      <p:sp>
        <p:nvSpPr>
          <p:cNvPr id="7" name="Column Evidence"/>
          <p:cNvSpPr/>
          <p:nvPr/>
        </p:nvSpPr>
        <p:spPr>
          <a:xfrm>
            <a:off x="4297680" y="1188720"/>
            <a:ext cx="3611880" cy="5074920"/>
          </a:xfrm>
          <a:prstGeom prst="roundRect">
            <a:avLst>
              <a:gd name="adj" fmla="val 3038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8" name="Dot Evidence"/>
          <p:cNvSpPr/>
          <p:nvPr/>
        </p:nvSpPr>
        <p:spPr>
          <a:xfrm>
            <a:off x="4526280" y="141732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Head Evidence"/>
          <p:cNvSpPr txBox="1"/>
          <p:nvPr/>
        </p:nvSpPr>
        <p:spPr>
          <a:xfrm>
            <a:off x="5074920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44"/>
                </a:solidFill>
              </a:rPr>
              <a:t>Evidence</a:t>
            </a:r>
            <a:endParaRPr lang="en-US" sz="1800" dirty="0"/>
          </a:p>
        </p:txBody>
      </p:sp>
      <p:sp>
        <p:nvSpPr>
          <p:cNvPr id="10" name="Items Evidence"/>
          <p:cNvSpPr txBox="1"/>
          <p:nvPr/>
        </p:nvSpPr>
        <p:spPr>
          <a:xfrm>
            <a:off x="4526280" y="201168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425 automated tests, a 70-scenario eval set, ruff + pytest on every push (CI green)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Live runs on Oracle, 24.10: D40 on a main road with the lane blocked -&gt; URGENT 89 in 140 s and URGENT 97 in 152 s; D20 on a secondary road -&gt; STANDARD 47 in 92 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Every verdict cited sec-x.y passages returned by the tools; the urgent cases created approval rows and waited for a human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The trace is persisted after every node; a crashed run becomes human review with an approval row</a:t>
            </a:r>
            <a:endParaRPr lang="en-US" sz="1150" dirty="0"/>
          </a:p>
        </p:txBody>
      </p:sp>
      <p:sp>
        <p:nvSpPr>
          <p:cNvPr id="11" name="Column Integration and open items"/>
          <p:cNvSpPr/>
          <p:nvPr/>
        </p:nvSpPr>
        <p:spPr>
          <a:xfrm>
            <a:off x="8138160" y="1188720"/>
            <a:ext cx="3611880" cy="5074920"/>
          </a:xfrm>
          <a:prstGeom prst="roundRect">
            <a:avLst>
              <a:gd name="adj" fmla="val 3038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2" name="Dot Integration and open items"/>
          <p:cNvSpPr/>
          <p:nvPr/>
        </p:nvSpPr>
        <p:spPr>
          <a:xfrm>
            <a:off x="8366760" y="14173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Head Integration and open items"/>
          <p:cNvSpPr txBox="1"/>
          <p:nvPr/>
        </p:nvSpPr>
        <p:spPr>
          <a:xfrm>
            <a:off x="8915400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44"/>
                </a:solidFill>
              </a:rPr>
              <a:t>Integration and open items</a:t>
            </a:r>
            <a:endParaRPr lang="en-US" sz="1800" dirty="0"/>
          </a:p>
        </p:txBody>
      </p:sp>
      <p:sp>
        <p:nvSpPr>
          <p:cNvPr id="14" name="Items Integration and open items"/>
          <p:cNvSpPr txBox="1"/>
          <p:nvPr/>
        </p:nvSpPr>
        <p:spPr>
          <a:xfrm>
            <a:off x="8366760" y="201168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Ovad: trained YOLO weights replace webapp/assets/models/yolov8n-roadguard.onnx (class order D00, D10, D20, D40)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Shai: labelled scenarios land in tests/labeled_scenarios.json and the eval picks them up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Benny: the repair-standard corpus replaces data/mini_corpus.jsonl and is seeded into ChromaDB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Open: named Cloudflare tunnel, token accounting in /report, labelled ground truth for an accuracy figure, a hard wall-clock cut inside a node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</a:rPr>
              <a:t>The citizen webapp: orarr2.github.io/RoadGuard</a:t>
            </a:r>
            <a:endParaRPr lang="en-US" sz="3000" dirty="0"/>
          </a:p>
        </p:txBody>
      </p:sp>
      <p:pic>
        <p:nvPicPr>
          <p:cNvPr id="3" name="Webapp desktop" descr="C:/Users/OR/AppData/Local/Temp/claude/C--Users-OR-Downloads---------Data-Science-Project-RoadGuard/f106a3a9-6de5-4d01-ac20-2e52894a8f65/scratchpad/deck/img/webapp-desk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760720" cy="4389120"/>
          </a:xfrm>
          <a:prstGeom prst="rect">
            <a:avLst/>
          </a:prstGeom>
        </p:spPr>
      </p:pic>
      <p:sp>
        <p:nvSpPr>
          <p:cNvPr id="4" name="Caption desktop"/>
          <p:cNvSpPr txBox="1"/>
          <p:nvPr/>
        </p:nvSpPr>
        <p:spPr>
          <a:xfrm>
            <a:off x="457200" y="565099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Landing page on a laptop: detection runs in the browser with onnxruntime-web; the verdict comes from the agent service</a:t>
            </a:r>
            <a:endParaRPr lang="en-US" sz="1050" dirty="0"/>
          </a:p>
        </p:txBody>
      </p:sp>
      <p:pic>
        <p:nvPicPr>
          <p:cNvPr id="5" name="Webapp phone" descr="C:/Users/OR/AppData/Local/Temp/claude/C--Users-OR-Downloads---------Data-Science-Project-RoadGuard/f106a3a9-6de5-4d01-ac20-2e52894a8f65/scratchpad/deck/img/webapp-pho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88720"/>
            <a:ext cx="2057400" cy="4453128"/>
          </a:xfrm>
          <a:prstGeom prst="rect">
            <a:avLst/>
          </a:prstGeom>
        </p:spPr>
      </p:pic>
      <p:sp>
        <p:nvSpPr>
          <p:cNvPr id="6" name="Webapp items"/>
          <p:cNvSpPr txBox="1"/>
          <p:nvPr/>
        </p:nvSpPr>
        <p:spPr>
          <a:xfrm>
            <a:off x="8778240" y="1188720"/>
            <a:ext cx="2971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YOLOv8n (ONNX) runs on the phone; the image stays there until the reporter submits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Upload a photo or start a live drive from the back camera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Sign in with the project passphrase or a Google account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Submit -&gt; 202 queued -&gt; the page polls /report every 3 s -&gt; verdict, priority, rationale, cited standards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When the agent needs more evidence it asks for one thing; the next upload resumes the same case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</a:rPr>
              <a:t>History of my reports with the final decisions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</a:rPr>
              <a:t>Oracle VM, local models and the live trace</a:t>
            </a:r>
            <a:endParaRPr lang="en-US" sz="3000" dirty="0"/>
          </a:p>
        </p:txBody>
      </p:sp>
      <p:sp>
        <p:nvSpPr>
          <p:cNvPr id="3" name="Box reporter"/>
          <p:cNvSpPr/>
          <p:nvPr/>
        </p:nvSpPr>
        <p:spPr>
          <a:xfrm>
            <a:off x="457200" y="123444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EF4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Box text reporter"/>
          <p:cNvSpPr txBox="1"/>
          <p:nvPr/>
        </p:nvSpPr>
        <p:spPr>
          <a:xfrm>
            <a:off x="530352" y="123444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Reporter phone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webapp on GitHub Pages</a:t>
            </a:r>
            <a:endParaRPr lang="en-US" sz="1100" dirty="0"/>
          </a:p>
        </p:txBody>
      </p:sp>
      <p:sp>
        <p:nvSpPr>
          <p:cNvPr id="5" name="Box tunnel"/>
          <p:cNvSpPr/>
          <p:nvPr/>
        </p:nvSpPr>
        <p:spPr>
          <a:xfrm>
            <a:off x="2651760" y="123444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EF4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Box text tunnel"/>
          <p:cNvSpPr txBox="1"/>
          <p:nvPr/>
        </p:nvSpPr>
        <p:spPr>
          <a:xfrm>
            <a:off x="2724912" y="123444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Cloudflare tunnel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HTTPS, public API only</a:t>
            </a:r>
            <a:endParaRPr lang="en-US" sz="1100" dirty="0"/>
          </a:p>
        </p:txBody>
      </p:sp>
      <p:sp>
        <p:nvSpPr>
          <p:cNvPr id="7" name="Box api"/>
          <p:cNvSpPr/>
          <p:nvPr/>
        </p:nvSpPr>
        <p:spPr>
          <a:xfrm>
            <a:off x="4846320" y="123444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EF4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Box text api"/>
          <p:cNvSpPr txBox="1"/>
          <p:nvPr/>
        </p:nvSpPr>
        <p:spPr>
          <a:xfrm>
            <a:off x="4919472" y="123444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FastAPI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systemd on Oracle A1.Flex</a:t>
            </a:r>
            <a:endParaRPr lang="en-US" sz="1100" dirty="0"/>
          </a:p>
        </p:txBody>
      </p:sp>
      <p:sp>
        <p:nvSpPr>
          <p:cNvPr id="9" name="Arrow r-t"/>
          <p:cNvSpPr/>
          <p:nvPr/>
        </p:nvSpPr>
        <p:spPr>
          <a:xfrm>
            <a:off x="2331720" y="1545336"/>
            <a:ext cx="32004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Arrow t-a"/>
          <p:cNvSpPr/>
          <p:nvPr/>
        </p:nvSpPr>
        <p:spPr>
          <a:xfrm>
            <a:off x="4526280" y="1545336"/>
            <a:ext cx="32004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Box graph"/>
          <p:cNvSpPr/>
          <p:nvPr/>
        </p:nvSpPr>
        <p:spPr>
          <a:xfrm>
            <a:off x="4846320" y="219456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8F7EE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Box text graph"/>
          <p:cNvSpPr txBox="1"/>
          <p:nvPr/>
        </p:nvSpPr>
        <p:spPr>
          <a:xfrm>
            <a:off x="4919472" y="219456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LangGraph agent graph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supervisor + workers + Decision agent</a:t>
            </a:r>
            <a:endParaRPr lang="en-US" sz="1100" dirty="0"/>
          </a:p>
        </p:txBody>
      </p:sp>
      <p:sp>
        <p:nvSpPr>
          <p:cNvPr id="13" name="Arrow a-g"/>
          <p:cNvSpPr/>
          <p:nvPr/>
        </p:nvSpPr>
        <p:spPr>
          <a:xfrm>
            <a:off x="5783580" y="1856232"/>
            <a:ext cx="0" cy="33832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Box ollama"/>
          <p:cNvSpPr/>
          <p:nvPr/>
        </p:nvSpPr>
        <p:spPr>
          <a:xfrm>
            <a:off x="457200" y="320040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EF4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Box text ollama"/>
          <p:cNvSpPr txBox="1"/>
          <p:nvPr/>
        </p:nvSpPr>
        <p:spPr>
          <a:xfrm>
            <a:off x="530352" y="320040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Ollama (Docker)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qwen2.5:7b + vote panel</a:t>
            </a:r>
            <a:endParaRPr lang="en-US" sz="1100" dirty="0"/>
          </a:p>
        </p:txBody>
      </p:sp>
      <p:sp>
        <p:nvSpPr>
          <p:cNvPr id="16" name="Box chroma"/>
          <p:cNvSpPr/>
          <p:nvPr/>
        </p:nvSpPr>
        <p:spPr>
          <a:xfrm>
            <a:off x="2651760" y="320040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EF4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Box text chroma"/>
          <p:cNvSpPr txBox="1"/>
          <p:nvPr/>
        </p:nvSpPr>
        <p:spPr>
          <a:xfrm>
            <a:off x="2724912" y="320040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ChromaDB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repair standards, MiniLM embeddings</a:t>
            </a:r>
            <a:endParaRPr lang="en-US" sz="1100" dirty="0"/>
          </a:p>
        </p:txBody>
      </p:sp>
      <p:sp>
        <p:nvSpPr>
          <p:cNvPr id="18" name="Box sqlite"/>
          <p:cNvSpPr/>
          <p:nvPr/>
        </p:nvSpPr>
        <p:spPr>
          <a:xfrm>
            <a:off x="4846320" y="320040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EEF4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Box text sqlite"/>
          <p:cNvSpPr txBox="1"/>
          <p:nvPr/>
        </p:nvSpPr>
        <p:spPr>
          <a:xfrm>
            <a:off x="4919472" y="320040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SQLite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hazards, approvals, evidence, checkpoints</a:t>
            </a:r>
            <a:endParaRPr lang="en-US" sz="1100" dirty="0"/>
          </a:p>
        </p:txBody>
      </p:sp>
      <p:sp>
        <p:nvSpPr>
          <p:cNvPr id="20" name="Arrow g-o"/>
          <p:cNvSpPr/>
          <p:nvPr/>
        </p:nvSpPr>
        <p:spPr>
          <a:xfrm flipH="1">
            <a:off x="1394460" y="2816352"/>
            <a:ext cx="3726180" cy="38404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Arrow g-c"/>
          <p:cNvSpPr/>
          <p:nvPr/>
        </p:nvSpPr>
        <p:spPr>
          <a:xfrm flipH="1">
            <a:off x="3589020" y="2816352"/>
            <a:ext cx="2080260" cy="38404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Arrow g-s"/>
          <p:cNvSpPr/>
          <p:nvPr/>
        </p:nvSpPr>
        <p:spPr>
          <a:xfrm>
            <a:off x="5783580" y="2816352"/>
            <a:ext cx="0" cy="38404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Box operator"/>
          <p:cNvSpPr/>
          <p:nvPr/>
        </p:nvSpPr>
        <p:spPr>
          <a:xfrm>
            <a:off x="457200" y="420624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FFF4E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Box text operator"/>
          <p:cNvSpPr txBox="1"/>
          <p:nvPr/>
        </p:nvSpPr>
        <p:spPr>
          <a:xfrm>
            <a:off x="530352" y="420624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Operator phone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Tailscale device</a:t>
            </a:r>
            <a:endParaRPr lang="en-US" sz="1100" dirty="0"/>
          </a:p>
        </p:txBody>
      </p:sp>
      <p:sp>
        <p:nvSpPr>
          <p:cNvPr id="25" name="Box caddy"/>
          <p:cNvSpPr/>
          <p:nvPr/>
        </p:nvSpPr>
        <p:spPr>
          <a:xfrm>
            <a:off x="2651760" y="420624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FFF4E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Box text caddy"/>
          <p:cNvSpPr txBox="1"/>
          <p:nvPr/>
        </p:nvSpPr>
        <p:spPr>
          <a:xfrm>
            <a:off x="2724912" y="420624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Tailscale + Caddy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basic auth, private network</a:t>
            </a:r>
            <a:endParaRPr lang="en-US" sz="1100" dirty="0"/>
          </a:p>
        </p:txBody>
      </p:sp>
      <p:sp>
        <p:nvSpPr>
          <p:cNvPr id="27" name="Box trace"/>
          <p:cNvSpPr/>
          <p:nvPr/>
        </p:nvSpPr>
        <p:spPr>
          <a:xfrm>
            <a:off x="4846320" y="4206240"/>
            <a:ext cx="1874520" cy="621792"/>
          </a:xfrm>
          <a:prstGeom prst="roundRect">
            <a:avLst>
              <a:gd name="adj" fmla="val 11765"/>
            </a:avLst>
          </a:prstGeom>
          <a:solidFill>
            <a:srgbClr val="FFF4E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Box text trace"/>
          <p:cNvSpPr txBox="1"/>
          <p:nvPr/>
        </p:nvSpPr>
        <p:spPr>
          <a:xfrm>
            <a:off x="4919472" y="4206240"/>
            <a:ext cx="1728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/trace terminal page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served by the API, 404 on public hosts</a:t>
            </a:r>
            <a:endParaRPr lang="en-US" sz="1100" dirty="0"/>
          </a:p>
        </p:txBody>
      </p:sp>
      <p:sp>
        <p:nvSpPr>
          <p:cNvPr id="29" name="Arrow o-c"/>
          <p:cNvSpPr/>
          <p:nvPr/>
        </p:nvSpPr>
        <p:spPr>
          <a:xfrm>
            <a:off x="2331720" y="4517136"/>
            <a:ext cx="32004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0" name="Arrow c-t"/>
          <p:cNvSpPr/>
          <p:nvPr/>
        </p:nvSpPr>
        <p:spPr>
          <a:xfrm>
            <a:off x="4526280" y="4517136"/>
            <a:ext cx="32004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VM caption"/>
          <p:cNvSpPr txBox="1"/>
          <p:nvPr/>
        </p:nvSpPr>
        <p:spPr>
          <a:xfrm>
            <a:off x="457200" y="4937760"/>
            <a:ext cx="6263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VM: Ubuntu 24.04, 4 OCPU Ampere ARM, 24 GB RAM, il-jerusalem-1, Always Free. Two background runs at a time, the rest queue.</a:t>
            </a:r>
            <a:endParaRPr lang="en-US" sz="1050" dirty="0"/>
          </a:p>
        </p:txBody>
      </p:sp>
      <p:sp>
        <p:nvSpPr>
          <p:cNvPr id="32" name="Models head"/>
          <p:cNvSpPr txBox="1"/>
          <p:nvPr/>
        </p:nvSpPr>
        <p:spPr>
          <a:xfrm>
            <a:off x="457200" y="534924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44"/>
                </a:solidFill>
              </a:rPr>
              <a:t>Local models (Ollama, zero API cost)</a:t>
            </a:r>
            <a:endParaRPr lang="en-US" sz="1200" dirty="0"/>
          </a:p>
        </p:txBody>
      </p:sp>
      <p:sp>
        <p:nvSpPr>
          <p:cNvPr id="33" name="Chip 0"/>
          <p:cNvSpPr/>
          <p:nvPr/>
        </p:nvSpPr>
        <p:spPr>
          <a:xfrm>
            <a:off x="457200" y="5669280"/>
            <a:ext cx="201168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4" name="Chip text 0"/>
          <p:cNvSpPr txBox="1"/>
          <p:nvPr/>
        </p:nvSpPr>
        <p:spPr>
          <a:xfrm>
            <a:off x="530352" y="566928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qwen2.5:7b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D4ED8"/>
                </a:solidFill>
              </a:rPr>
              <a:t>every LLM call</a:t>
            </a:r>
            <a:endParaRPr lang="en-US" sz="1000" dirty="0"/>
          </a:p>
        </p:txBody>
      </p:sp>
      <p:sp>
        <p:nvSpPr>
          <p:cNvPr id="35" name="Chip 1"/>
          <p:cNvSpPr/>
          <p:nvPr/>
        </p:nvSpPr>
        <p:spPr>
          <a:xfrm>
            <a:off x="2578608" y="5669280"/>
            <a:ext cx="201168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Chip text 1"/>
          <p:cNvSpPr txBox="1"/>
          <p:nvPr/>
        </p:nvSpPr>
        <p:spPr>
          <a:xfrm>
            <a:off x="2651760" y="566928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llama3.1:8b, qwen2.5:3b, gemma2:2b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6A34A"/>
                </a:solidFill>
              </a:rPr>
              <a:t>vote panel</a:t>
            </a:r>
            <a:endParaRPr lang="en-US" sz="1000" dirty="0"/>
          </a:p>
        </p:txBody>
      </p:sp>
      <p:sp>
        <p:nvSpPr>
          <p:cNvPr id="37" name="Chip 2"/>
          <p:cNvSpPr/>
          <p:nvPr/>
        </p:nvSpPr>
        <p:spPr>
          <a:xfrm>
            <a:off x="4700016" y="5669280"/>
            <a:ext cx="201168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Chip text 2"/>
          <p:cNvSpPr txBox="1"/>
          <p:nvPr/>
        </p:nvSpPr>
        <p:spPr>
          <a:xfrm>
            <a:off x="4773168" y="566928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phi3.5, granite3.3:2b, llama3.2:3b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installed, available</a:t>
            </a:r>
            <a:endParaRPr lang="en-US" sz="1000" dirty="0"/>
          </a:p>
        </p:txBody>
      </p:sp>
      <p:pic>
        <p:nvPicPr>
          <p:cNvPr id="39" name="Trace phone" descr="C:/Users/OR/AppData/Local/Temp/claude/C--Users-OR-Downloads---------Data-Science-Project-RoadGuard/f106a3a9-6de5-4d01-ac20-2e52894a8f65/scratchpad/deck/img/trace-ph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188720"/>
            <a:ext cx="2240280" cy="4846320"/>
          </a:xfrm>
          <a:prstGeom prst="rect">
            <a:avLst/>
          </a:prstGeom>
        </p:spPr>
      </p:pic>
      <p:sp>
        <p:nvSpPr>
          <p:cNvPr id="40" name="Trace caption"/>
          <p:cNvSpPr txBox="1"/>
          <p:nvPr/>
        </p:nvSpPr>
        <p:spPr>
          <a:xfrm>
            <a:off x="7040880" y="6080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Live trace, 24.10, hazard hz_949b694d5826</a:t>
            </a:r>
            <a:endParaRPr lang="en-US" sz="950" dirty="0"/>
          </a:p>
        </p:txBody>
      </p:sp>
      <p:sp>
        <p:nvSpPr>
          <p:cNvPr id="41" name="Trace head"/>
          <p:cNvSpPr txBox="1"/>
          <p:nvPr/>
        </p:nvSpPr>
        <p:spPr>
          <a:xfrm>
            <a:off x="950976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</a:rPr>
              <a:t>Live agent trace</a:t>
            </a:r>
            <a:endParaRPr lang="en-US" sz="1600" dirty="0"/>
          </a:p>
        </p:txBody>
      </p:sp>
      <p:sp>
        <p:nvSpPr>
          <p:cNvPr id="42" name="Trace items"/>
          <p:cNvSpPr txBox="1"/>
          <p:nvPr/>
        </p:nvSpPr>
        <p:spPr>
          <a:xfrm>
            <a:off x="9509760" y="1645920"/>
            <a:ext cx="2240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A terminal, not a dashboard: one line per node, the decision on the same line, handoff lines between the agents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The same text the VM journal prints: one formatter feeds /report, the page and journalctl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Private: reachable through Tailscale and Caddy only; any other host gets 404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</a:rPr>
              <a:t>Passphrase once, then the page follows the newest hazard of the account, polling every 2 s; the cursor blinks while a node runs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adGuard">
  <a:themeElements>
    <a:clrScheme name="RoadGuard">
      <a:dk1>
        <a:srgbClr val="0F172A"/>
      </a:dk1>
      <a:lt1>
        <a:srgbClr val="FFFFFF"/>
      </a:lt1>
      <a:dk2>
        <a:srgbClr val="0B1F44"/>
      </a:dk2>
      <a:lt2>
        <a:srgbClr val="EEF4FF"/>
      </a:lt2>
      <a:accent1>
        <a:srgbClr val="1D4ED8"/>
      </a:accent1>
      <a:accent2>
        <a:srgbClr val="16A34A"/>
      </a:accent2>
      <a:accent3>
        <a:srgbClr val="0EA5E9"/>
      </a:accent3>
      <a:accent4>
        <a:srgbClr val="F59E0B"/>
      </a:accent4>
      <a:accent5>
        <a:srgbClr val="64748B"/>
      </a:accent5>
      <a:accent6>
        <a:srgbClr val="DC2626"/>
      </a:accent6>
      <a:hlink>
        <a:srgbClr val="1D4ED8"/>
      </a:hlink>
      <a:folHlink>
        <a:srgbClr val="7C3AED"/>
      </a:folHlink>
    </a:clrScheme>
    <a:fontScheme name="Road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RoadGuard - the AI agent layer</dc:title>
  <dc:subject>PptxGenJS Presentation</dc:subject>
  <dc:creator>RoadGuard</dc:creator>
  <cp:lastModifiedBy>RoadGuard</cp:lastModifiedBy>
  <cp:revision>1</cp:revision>
  <dcterms:created xsi:type="dcterms:W3CDTF">2026-10-24T08:44:01Z</dcterms:created>
  <dcterms:modified xsi:type="dcterms:W3CDTF">2026-10-24T08:44:01Z</dcterms:modified>
</cp:coreProperties>
</file>