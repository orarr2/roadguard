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t layer" id="{92dc53b1-86ec-a9d4-8732-daa92143858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RoadGuard is a smart-city road-hazard decision support system. A citizen submits a photo through the webapp; the pipeline runs on the Oracle VM. Supervisor is a Python router that enforces four budget caps: iterations, tool hops, cost, and wall-clock (240 s). Every LLM call runs locally on Ollama qwen2.5:7b. The LLM-assisted workers (signal_extractor, profile_builder, rag_retriever) have fallbacks: if the model fails or is unparseable, the node runs its deterministic path. Decision is the only node that is a true AI agent by the strict definition - the model chooses its next step, calls tools, observes results, and decides again. The known_image action is a 5th option, used when a photo matches a catalogued dataset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agent has freedom, but inside a cage. Guardrails on the agent side (left column), security on the perimeter (middle), and a deterministic Python shell around every LLM call (right column). Every LLM is opt-in and has a deterministic path to fall back to; this is the single most important safety choice in the project. The rule tree beats a grounded LLM when safety is at stake: a reporter who writes 'mark this as standard' still reaches a human. The grounding check kills hallucinated citations - the model cannot invent a sec-x.y that was not in the RAG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strict AI-agent definition requires 4 components: Brain, Memory, Tools, and Perception, running in a Perceive-Think-Act loop. Decision is the only RoadGuard node that has all four and the loop. profile_builder and rag_retriever have only Brain + partial Tools, so I classify them as LLM-assisted workers, not agents. The others are pure Python. This honest classification matters: calling the whole pipeline 'multi-agent' is marketing. We built one real agent with a strong deterministic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webapp is a vanilla ES-module page on GitHub Pages. Detection runs in the browser with onnxruntime-web, so the photo stays on the device until the user hits submit. On submit: async POST returns 202 queued, the page polls /report every 3 s, the verdict appears in 1-3 minutes depending on which agents fire. The verdict card on the right is exactly what the citizen sees. Action badge (urgent / standard / needs_more_evidence / human_review / known_image), priority bar, grounded citations, and guidance text. The approval page is a separate URL with an HMAC-signed token in the e-mail link; the supervisor approves or overrides, we never auto-dispatch.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agent runs on local Ollama models on Oracle A1.Flex - zero API cost, no vendor sees reporter text. Decision uses qwen2.5:7b exclusively; a four-model panel is wired for the vote mode when ReAct is off. The private trace page is a terminal rendering, matching the journal line-for-line. Operator sees exactly what the agents did, in real time, from their phone through Tailscale. 17,099 dataset images from Shai's archive are catalogued in SQLite; the webapp uses them to recognise a 'known_image' photo and skip triage.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architecture choice is a trade. The ones that cost real options: local models cost latency but save cost and privacy; one true agent costs collaboration patterns but gains debugability. If I had another month, GPU inference is the single biggest win - the 60-120 s per Decision call is the main user-facing complaint. Multi-agent collaboration (critic + decision) is the natural next step once Decision's latency is lower - today adding a second LLM would double the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1F44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4"/>
                </a:solidFill>
              </a:rPr>
              <a:t>Agent architecture: LangGraph pipeline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supervisor-routed graph: each node is a worker, decision is the one true agent.</a:t>
            </a:r>
            <a:endParaRPr lang="en-US" sz="1400" dirty="0"/>
          </a:p>
        </p:txBody>
      </p:sp>
      <p:sp>
        <p:nvSpPr>
          <p:cNvPr id="4" name="Node n0"/>
          <p:cNvSpPr/>
          <p:nvPr/>
        </p:nvSpPr>
        <p:spPr>
          <a:xfrm>
            <a:off x="548640" y="192024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Node text n0"/>
          <p:cNvSpPr txBox="1"/>
          <p:nvPr/>
        </p:nvSpPr>
        <p:spPr>
          <a:xfrm>
            <a:off x="621792" y="192024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Photo + form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input</a:t>
            </a:r>
            <a:endParaRPr lang="en-US" sz="1100" dirty="0"/>
          </a:p>
        </p:txBody>
      </p:sp>
      <p:sp>
        <p:nvSpPr>
          <p:cNvPr id="6" name="Node n1"/>
          <p:cNvSpPr/>
          <p:nvPr/>
        </p:nvSpPr>
        <p:spPr>
          <a:xfrm>
            <a:off x="1600200" y="192024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Node text n1"/>
          <p:cNvSpPr txBox="1"/>
          <p:nvPr/>
        </p:nvSpPr>
        <p:spPr>
          <a:xfrm>
            <a:off x="1673352" y="1920240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sanitize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regex defence</a:t>
            </a:r>
            <a:endParaRPr lang="en-US" sz="1100" dirty="0"/>
          </a:p>
        </p:txBody>
      </p:sp>
      <p:sp>
        <p:nvSpPr>
          <p:cNvPr id="8" name="Node n2"/>
          <p:cNvSpPr/>
          <p:nvPr/>
        </p:nvSpPr>
        <p:spPr>
          <a:xfrm>
            <a:off x="2926080" y="19202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9" name="Node text n2"/>
          <p:cNvSpPr txBox="1"/>
          <p:nvPr/>
        </p:nvSpPr>
        <p:spPr>
          <a:xfrm>
            <a:off x="2999232" y="19202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signal_extractor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LLM-assisted</a:t>
            </a:r>
            <a:endParaRPr lang="en-US" sz="1100" dirty="0"/>
          </a:p>
        </p:txBody>
      </p:sp>
      <p:sp>
        <p:nvSpPr>
          <p:cNvPr id="10" name="Node n3"/>
          <p:cNvSpPr/>
          <p:nvPr/>
        </p:nvSpPr>
        <p:spPr>
          <a:xfrm>
            <a:off x="4434840" y="19202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" name="Node text n3"/>
          <p:cNvSpPr txBox="1"/>
          <p:nvPr/>
        </p:nvSpPr>
        <p:spPr>
          <a:xfrm>
            <a:off x="4507992" y="19202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profile_builder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LLM-assisted</a:t>
            </a:r>
            <a:endParaRPr lang="en-US" sz="1100" dirty="0"/>
          </a:p>
        </p:txBody>
      </p:sp>
      <p:sp>
        <p:nvSpPr>
          <p:cNvPr id="12" name="Node n4"/>
          <p:cNvSpPr/>
          <p:nvPr/>
        </p:nvSpPr>
        <p:spPr>
          <a:xfrm>
            <a:off x="5943600" y="19202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Node text n4"/>
          <p:cNvSpPr txBox="1"/>
          <p:nvPr/>
        </p:nvSpPr>
        <p:spPr>
          <a:xfrm>
            <a:off x="6016752" y="19202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rag_retriever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LLM-assisted</a:t>
            </a:r>
            <a:endParaRPr lang="en-US" sz="1100" dirty="0"/>
          </a:p>
        </p:txBody>
      </p:sp>
      <p:sp>
        <p:nvSpPr>
          <p:cNvPr id="14" name="Node n5"/>
          <p:cNvSpPr/>
          <p:nvPr/>
        </p:nvSpPr>
        <p:spPr>
          <a:xfrm>
            <a:off x="7452360" y="19202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Node text n5"/>
          <p:cNvSpPr txBox="1"/>
          <p:nvPr/>
        </p:nvSpPr>
        <p:spPr>
          <a:xfrm>
            <a:off x="7525512" y="192024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AGENT (ReAct)</a:t>
            </a:r>
            <a:endParaRPr lang="en-US" sz="1100" dirty="0"/>
          </a:p>
        </p:txBody>
      </p:sp>
      <p:sp>
        <p:nvSpPr>
          <p:cNvPr id="16" name="Node n6"/>
          <p:cNvSpPr/>
          <p:nvPr/>
        </p:nvSpPr>
        <p:spPr>
          <a:xfrm>
            <a:off x="9098280" y="19202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Node text n6"/>
          <p:cNvSpPr txBox="1"/>
          <p:nvPr/>
        </p:nvSpPr>
        <p:spPr>
          <a:xfrm>
            <a:off x="9171432" y="192024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approval_gate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human gate</a:t>
            </a:r>
            <a:endParaRPr lang="en-US" sz="1100" dirty="0"/>
          </a:p>
        </p:txBody>
      </p:sp>
      <p:sp>
        <p:nvSpPr>
          <p:cNvPr id="18" name="Node n7"/>
          <p:cNvSpPr/>
          <p:nvPr/>
        </p:nvSpPr>
        <p:spPr>
          <a:xfrm>
            <a:off x="10515600" y="192024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E5E7EB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19" name="Node text n7"/>
          <p:cNvSpPr txBox="1"/>
          <p:nvPr/>
        </p:nvSpPr>
        <p:spPr>
          <a:xfrm>
            <a:off x="10588752" y="1920240"/>
            <a:ext cx="1042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Verdict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output</a:t>
            </a:r>
            <a:endParaRPr lang="en-US" sz="1100" dirty="0"/>
          </a:p>
        </p:txBody>
      </p:sp>
      <p:sp>
        <p:nvSpPr>
          <p:cNvPr id="20" name="Arrow pipe-0"/>
          <p:cNvSpPr/>
          <p:nvPr/>
        </p:nvSpPr>
        <p:spPr>
          <a:xfrm>
            <a:off x="146304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Arrow pipe-1"/>
          <p:cNvSpPr/>
          <p:nvPr/>
        </p:nvSpPr>
        <p:spPr>
          <a:xfrm>
            <a:off x="278892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Arrow pipe-2"/>
          <p:cNvSpPr/>
          <p:nvPr/>
        </p:nvSpPr>
        <p:spPr>
          <a:xfrm>
            <a:off x="429768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Arrow pipe-3"/>
          <p:cNvSpPr/>
          <p:nvPr/>
        </p:nvSpPr>
        <p:spPr>
          <a:xfrm>
            <a:off x="580644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Arrow pipe-4"/>
          <p:cNvSpPr/>
          <p:nvPr/>
        </p:nvSpPr>
        <p:spPr>
          <a:xfrm>
            <a:off x="731520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Arrow pipe-5"/>
          <p:cNvSpPr/>
          <p:nvPr/>
        </p:nvSpPr>
        <p:spPr>
          <a:xfrm>
            <a:off x="896112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Arrow pipe-6"/>
          <p:cNvSpPr/>
          <p:nvPr/>
        </p:nvSpPr>
        <p:spPr>
          <a:xfrm>
            <a:off x="10378440" y="2331720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upervisor bar"/>
          <p:cNvSpPr/>
          <p:nvPr/>
        </p:nvSpPr>
        <p:spPr>
          <a:xfrm>
            <a:off x="548640" y="1417320"/>
            <a:ext cx="11155680" cy="384048"/>
          </a:xfrm>
          <a:prstGeom prst="roundRect">
            <a:avLst>
              <a:gd name="adj" fmla="val 2381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28" name="Supervisor text"/>
          <p:cNvSpPr txBox="1"/>
          <p:nvPr/>
        </p:nvSpPr>
        <p:spPr>
          <a:xfrm>
            <a:off x="640080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SUPERVISOR  </a:t>
            </a:r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Python router + budget guard (iterations, tool hops, cost, wall-clock caps)</a:t>
            </a:r>
            <a:endParaRPr lang="en-US" sz="1100" dirty="0"/>
          </a:p>
        </p:txBody>
      </p:sp>
      <p:sp>
        <p:nvSpPr>
          <p:cNvPr id="29" name="Evidence loop"/>
          <p:cNvSpPr/>
          <p:nvPr/>
        </p:nvSpPr>
        <p:spPr>
          <a:xfrm flipH="1">
            <a:off x="3611880" y="2743200"/>
            <a:ext cx="4572000" cy="82296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0" name="Await label"/>
          <p:cNvSpPr txBox="1"/>
          <p:nvPr/>
        </p:nvSpPr>
        <p:spPr>
          <a:xfrm>
            <a:off x="3749040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await_evidence  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(graph pauses on a checkpoint; the next upload from the reporter resumes it)</a:t>
            </a:r>
            <a:endParaRPr lang="en-US" sz="1000" dirty="0"/>
          </a:p>
        </p:txBody>
      </p:sp>
      <p:sp>
        <p:nvSpPr>
          <p:cNvPr id="31" name="Blurb 0"/>
          <p:cNvSpPr/>
          <p:nvPr/>
        </p:nvSpPr>
        <p:spPr>
          <a:xfrm>
            <a:off x="548640" y="44805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Blurb text 0"/>
          <p:cNvSpPr txBox="1"/>
          <p:nvPr/>
        </p:nvSpPr>
        <p:spPr>
          <a:xfrm>
            <a:off x="658368" y="457200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sanitize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Regex boundary defence on 4 vectors: location, OCR, reporter text, RAG passages.</a:t>
            </a:r>
            <a:endParaRPr lang="en-US" sz="1100" dirty="0"/>
          </a:p>
        </p:txBody>
      </p:sp>
      <p:sp>
        <p:nvSpPr>
          <p:cNvPr id="33" name="Blurb 1"/>
          <p:cNvSpPr/>
          <p:nvPr/>
        </p:nvSpPr>
        <p:spPr>
          <a:xfrm>
            <a:off x="2441448" y="44805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Blurb text 1"/>
          <p:cNvSpPr txBox="1"/>
          <p:nvPr/>
        </p:nvSpPr>
        <p:spPr>
          <a:xfrm>
            <a:off x="2551176" y="457200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signal_extractor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Reporter free text -&gt; structured signals. LLM + regex fallback.</a:t>
            </a:r>
            <a:endParaRPr lang="en-US" sz="1100" dirty="0"/>
          </a:p>
        </p:txBody>
      </p:sp>
      <p:sp>
        <p:nvSpPr>
          <p:cNvPr id="35" name="Blurb 2"/>
          <p:cNvSpPr/>
          <p:nvPr/>
        </p:nvSpPr>
        <p:spPr>
          <a:xfrm>
            <a:off x="4334256" y="44805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Blurb text 2"/>
          <p:cNvSpPr txBox="1"/>
          <p:nvPr/>
        </p:nvSpPr>
        <p:spPr>
          <a:xfrm>
            <a:off x="4443984" y="457200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profile_builder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YOLO + metadata -&gt; HazardProfile. LLM may lower confidence only.</a:t>
            </a:r>
            <a:endParaRPr lang="en-US" sz="1100" dirty="0"/>
          </a:p>
        </p:txBody>
      </p:sp>
      <p:sp>
        <p:nvSpPr>
          <p:cNvPr id="37" name="Blurb 3"/>
          <p:cNvSpPr/>
          <p:nvPr/>
        </p:nvSpPr>
        <p:spPr>
          <a:xfrm>
            <a:off x="6227064" y="44805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Blurb text 3"/>
          <p:cNvSpPr txBox="1"/>
          <p:nvPr/>
        </p:nvSpPr>
        <p:spPr>
          <a:xfrm>
            <a:off x="6336792" y="457200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rag_retriever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ChromaDB lookup of repair standards. LLM labels coverage.</a:t>
            </a:r>
            <a:endParaRPr lang="en-US" sz="1100" dirty="0"/>
          </a:p>
        </p:txBody>
      </p:sp>
      <p:sp>
        <p:nvSpPr>
          <p:cNvPr id="39" name="Blurb 4"/>
          <p:cNvSpPr/>
          <p:nvPr/>
        </p:nvSpPr>
        <p:spPr>
          <a:xfrm>
            <a:off x="8119872" y="44805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0" name="Blurb text 4"/>
          <p:cNvSpPr txBox="1"/>
          <p:nvPr/>
        </p:nvSpPr>
        <p:spPr>
          <a:xfrm>
            <a:off x="8229600" y="457200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DECISION (agent)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ReAct loop; chooses tool &amp; action; the only node that writes.</a:t>
            </a:r>
            <a:endParaRPr lang="en-US" sz="1100" dirty="0"/>
          </a:p>
        </p:txBody>
      </p:sp>
      <p:sp>
        <p:nvSpPr>
          <p:cNvPr id="41" name="Blurb 5"/>
          <p:cNvSpPr/>
          <p:nvPr/>
        </p:nvSpPr>
        <p:spPr>
          <a:xfrm>
            <a:off x="10012680" y="44805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Blurb text 5"/>
          <p:cNvSpPr txBox="1"/>
          <p:nvPr/>
        </p:nvSpPr>
        <p:spPr>
          <a:xfrm>
            <a:off x="10122408" y="457200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approval_gate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Pending approval row for urgent / human_review; signed e-mail link.</a:t>
            </a:r>
            <a:endParaRPr lang="en-US" sz="1100" dirty="0"/>
          </a:p>
        </p:txBody>
      </p:sp>
      <p:sp>
        <p:nvSpPr>
          <p:cNvPr id="43" name="Legend 0"/>
          <p:cNvSpPr/>
          <p:nvPr/>
        </p:nvSpPr>
        <p:spPr>
          <a:xfrm>
            <a:off x="548640" y="6126480"/>
            <a:ext cx="164592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4" name="Legend label 0"/>
          <p:cNvSpPr txBox="1"/>
          <p:nvPr/>
        </p:nvSpPr>
        <p:spPr>
          <a:xfrm>
            <a:off x="786384" y="6099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deterministic Python</a:t>
            </a:r>
            <a:endParaRPr lang="en-US" sz="1000" dirty="0"/>
          </a:p>
        </p:txBody>
      </p:sp>
      <p:sp>
        <p:nvSpPr>
          <p:cNvPr id="45" name="Legend 1"/>
          <p:cNvSpPr/>
          <p:nvPr/>
        </p:nvSpPr>
        <p:spPr>
          <a:xfrm>
            <a:off x="3163824" y="6126480"/>
            <a:ext cx="164592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Legend label 1"/>
          <p:cNvSpPr txBox="1"/>
          <p:nvPr/>
        </p:nvSpPr>
        <p:spPr>
          <a:xfrm>
            <a:off x="3401568" y="6099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LLM-assisted worker</a:t>
            </a:r>
            <a:endParaRPr lang="en-US" sz="1000" dirty="0"/>
          </a:p>
        </p:txBody>
      </p:sp>
      <p:sp>
        <p:nvSpPr>
          <p:cNvPr id="47" name="Legend 2"/>
          <p:cNvSpPr/>
          <p:nvPr/>
        </p:nvSpPr>
        <p:spPr>
          <a:xfrm>
            <a:off x="5779008" y="6126480"/>
            <a:ext cx="164592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Legend label 2"/>
          <p:cNvSpPr txBox="1"/>
          <p:nvPr/>
        </p:nvSpPr>
        <p:spPr>
          <a:xfrm>
            <a:off x="6016752" y="6099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true AI agent (ReAct)</a:t>
            </a:r>
            <a:endParaRPr lang="en-US" sz="1000" dirty="0"/>
          </a:p>
        </p:txBody>
      </p:sp>
      <p:sp>
        <p:nvSpPr>
          <p:cNvPr id="49" name="Legend 3"/>
          <p:cNvSpPr/>
          <p:nvPr/>
        </p:nvSpPr>
        <p:spPr>
          <a:xfrm>
            <a:off x="8394192" y="6126480"/>
            <a:ext cx="164592" cy="1645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Legend label 3"/>
          <p:cNvSpPr txBox="1"/>
          <p:nvPr/>
        </p:nvSpPr>
        <p:spPr>
          <a:xfrm>
            <a:off x="8631936" y="6099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human-approval gate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4"/>
                </a:solidFill>
              </a:rPr>
              <a:t>Guardrails, security, and the deterministic shell</a:t>
            </a:r>
            <a:endParaRPr lang="en-US" sz="2800" dirty="0"/>
          </a:p>
        </p:txBody>
      </p:sp>
      <p:sp>
        <p:nvSpPr>
          <p:cNvPr id="3" name="Col Agent guardrails"/>
          <p:cNvSpPr/>
          <p:nvPr/>
        </p:nvSpPr>
        <p:spPr>
          <a:xfrm>
            <a:off x="457200" y="1188720"/>
            <a:ext cx="3621024" cy="5074920"/>
          </a:xfrm>
          <a:prstGeom prst="roundRect">
            <a:avLst>
              <a:gd name="adj" fmla="val 2525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Head Agent guardrails"/>
          <p:cNvSpPr txBox="1"/>
          <p:nvPr/>
        </p:nvSpPr>
        <p:spPr>
          <a:xfrm>
            <a:off x="68580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4"/>
                </a:solidFill>
              </a:rPr>
              <a:t>Agent guardrails</a:t>
            </a:r>
            <a:endParaRPr lang="en-US" sz="1700" dirty="0"/>
          </a:p>
        </p:txBody>
      </p:sp>
      <p:sp>
        <p:nvSpPr>
          <p:cNvPr id="5" name="Items Agent guardrails"/>
          <p:cNvSpPr txBox="1"/>
          <p:nvPr/>
        </p:nvSpPr>
        <p:spPr>
          <a:xfrm>
            <a:off x="685800" y="201168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Human approval required before any urgent / human_review case moves 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Deterministic floors: the rule tree wins over the model on urgent, human_review and known_image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Grounding check: cited_sources must come from the tool results; otherwise fall back to the rule tree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One evidence request per hazard; a second ambiguity goes to human_review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Least privilege per node: workers see only their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known_image short-circuits the LLM entirely for a catalogued photo</a:t>
            </a:r>
            <a:endParaRPr lang="en-US" sz="1100" dirty="0"/>
          </a:p>
        </p:txBody>
      </p:sp>
      <p:sp>
        <p:nvSpPr>
          <p:cNvPr id="6" name="Col Security"/>
          <p:cNvSpPr/>
          <p:nvPr/>
        </p:nvSpPr>
        <p:spPr>
          <a:xfrm>
            <a:off x="4306824" y="1188720"/>
            <a:ext cx="3621024" cy="5074920"/>
          </a:xfrm>
          <a:prstGeom prst="roundRect">
            <a:avLst>
              <a:gd name="adj" fmla="val 2525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Head Security"/>
          <p:cNvSpPr txBox="1"/>
          <p:nvPr/>
        </p:nvSpPr>
        <p:spPr>
          <a:xfrm>
            <a:off x="4535424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4"/>
                </a:solidFill>
              </a:rPr>
              <a:t>Security</a:t>
            </a:r>
            <a:endParaRPr lang="en-US" sz="1700" dirty="0"/>
          </a:p>
        </p:txBody>
      </p:sp>
      <p:sp>
        <p:nvSpPr>
          <p:cNvPr id="8" name="Items Security"/>
          <p:cNvSpPr txBox="1"/>
          <p:nvPr/>
        </p:nvSpPr>
        <p:spPr>
          <a:xfrm>
            <a:off x="4535424" y="201168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Private operator pages (/trace, /supervisor, /status, /sql): 404 unless Host is loopback or on the Tailscale tailnet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Prompt injection neutralised in 4 vectors: location, OCR text, reporter text, RAG passages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API rate limits per user per minute (slowapi); login limit separate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HMAC-signed approval links; JWT bearer auth; SQL console is private + SELECT-only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Port 8000 closed to the public interface; only the Cloudflare tunnel reaches the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Local LLM: no vendor can log reporter text; no API keys to leak</a:t>
            </a:r>
            <a:endParaRPr lang="en-US" sz="1100" dirty="0"/>
          </a:p>
        </p:txBody>
      </p:sp>
      <p:sp>
        <p:nvSpPr>
          <p:cNvPr id="9" name="Col Deterministic shell"/>
          <p:cNvSpPr/>
          <p:nvPr/>
        </p:nvSpPr>
        <p:spPr>
          <a:xfrm>
            <a:off x="8156448" y="1188720"/>
            <a:ext cx="3621024" cy="5074920"/>
          </a:xfrm>
          <a:prstGeom prst="roundRect">
            <a:avLst>
              <a:gd name="adj" fmla="val 2525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Head Deterministic shell"/>
          <p:cNvSpPr txBox="1"/>
          <p:nvPr/>
        </p:nvSpPr>
        <p:spPr>
          <a:xfrm>
            <a:off x="8385048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4"/>
                </a:solidFill>
              </a:rPr>
              <a:t>Deterministic shell</a:t>
            </a:r>
            <a:endParaRPr lang="en-US" sz="1700" dirty="0"/>
          </a:p>
        </p:txBody>
      </p:sp>
      <p:sp>
        <p:nvSpPr>
          <p:cNvPr id="11" name="Items Deterministic shell"/>
          <p:cNvSpPr txBox="1"/>
          <p:nvPr/>
        </p:nvSpPr>
        <p:spPr>
          <a:xfrm>
            <a:off x="8385048" y="201168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sanitize: regex over the 4 vectors; always runs first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signal_extractor / profile_builder / rag_retriever: LLM is opt-in. Deterministic path when the LLM is off, offline, or ungrounded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supervisor: Python router + 4 budget caps (iterations, tool hops, cost, wall-clock 240 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approval_gate: writes the pending row and the signed e-mail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await_evidence: pauses the graph on a SqliteSaver checkpoint until the reporter answers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Every failure becomes a human_review verdict with an approvals row; the service never crashes a verdict away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4"/>
                </a:solidFill>
              </a:rPr>
              <a:t>Decision: the one true AI agent (by the 4-pillar definition)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An AI agent perceives, thinks, and acts in a loop. The Decision node is the only RoadGuard node that satisfies all four.</a:t>
            </a:r>
            <a:endParaRPr lang="en-US" sz="1300" dirty="0"/>
          </a:p>
        </p:txBody>
      </p:sp>
      <p:sp>
        <p:nvSpPr>
          <p:cNvPr id="4" name="Agent centre"/>
          <p:cNvSpPr/>
          <p:nvPr/>
        </p:nvSpPr>
        <p:spPr>
          <a:xfrm>
            <a:off x="4997196" y="3017520"/>
            <a:ext cx="2194560" cy="128016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Agent centre text"/>
          <p:cNvSpPr txBox="1"/>
          <p:nvPr/>
        </p:nvSpPr>
        <p:spPr>
          <a:xfrm>
            <a:off x="4997196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DECISION 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ollama:qwen2.5:7b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ReAct loop, max 2 tool hops</a:t>
            </a:r>
            <a:endParaRPr lang="en-US" sz="1600" dirty="0"/>
          </a:p>
        </p:txBody>
      </p:sp>
      <p:sp>
        <p:nvSpPr>
          <p:cNvPr id="6" name="Pillar 0"/>
          <p:cNvSpPr/>
          <p:nvPr/>
        </p:nvSpPr>
        <p:spPr>
          <a:xfrm>
            <a:off x="457200" y="16002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7" name="Pillar dot 0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Pillar num 0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Pillar head 0"/>
          <p:cNvSpPr txBox="1"/>
          <p:nvPr/>
        </p:nvSpPr>
        <p:spPr>
          <a:xfrm>
            <a:off x="123444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1. Brain / Planning</a:t>
            </a:r>
            <a:endParaRPr lang="en-US" sz="1300" dirty="0"/>
          </a:p>
        </p:txBody>
      </p:sp>
      <p:sp>
        <p:nvSpPr>
          <p:cNvPr id="10" name="Pillar body 0"/>
          <p:cNvSpPr txBox="1"/>
          <p:nvPr/>
        </p:nvSpPr>
        <p:spPr>
          <a:xfrm>
            <a:off x="64008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Qwen2.5:7b running locally on Ollama. ReAct pattern: thought -&gt; tool_call -&gt; observation -&gt; thought. Grounding retry when the first reply is ungrounded. Rule-tree floor when the model disagrees on safety-critical actions.</a:t>
            </a:r>
            <a:endParaRPr lang="en-US" sz="1050" dirty="0"/>
          </a:p>
        </p:txBody>
      </p:sp>
      <p:sp>
        <p:nvSpPr>
          <p:cNvPr id="11" name="Arrow pillar-arrow-0"/>
          <p:cNvSpPr/>
          <p:nvPr/>
        </p:nvSpPr>
        <p:spPr>
          <a:xfrm>
            <a:off x="4114800" y="2514600"/>
            <a:ext cx="882396" cy="6400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" name="Pillar 1"/>
          <p:cNvSpPr/>
          <p:nvPr/>
        </p:nvSpPr>
        <p:spPr>
          <a:xfrm>
            <a:off x="8074152" y="16002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Pillar dot 1"/>
          <p:cNvSpPr/>
          <p:nvPr/>
        </p:nvSpPr>
        <p:spPr>
          <a:xfrm>
            <a:off x="8257032" y="178308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Pillar num 1"/>
          <p:cNvSpPr txBox="1"/>
          <p:nvPr/>
        </p:nvSpPr>
        <p:spPr>
          <a:xfrm>
            <a:off x="82570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illar head 1"/>
          <p:cNvSpPr txBox="1"/>
          <p:nvPr/>
        </p:nvSpPr>
        <p:spPr>
          <a:xfrm>
            <a:off x="8851392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2. Memory</a:t>
            </a:r>
            <a:endParaRPr lang="en-US" sz="1300" dirty="0"/>
          </a:p>
        </p:txBody>
      </p:sp>
      <p:sp>
        <p:nvSpPr>
          <p:cNvPr id="16" name="Pillar body 1"/>
          <p:cNvSpPr txBox="1"/>
          <p:nvPr/>
        </p:nvSpPr>
        <p:spPr>
          <a:xfrm>
            <a:off x="8257032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Short term: RoadGuardState through the graph (metadata, YOLO, profile, RAG result, trace). SqliteSaver checkpoint persists across restarts. Long term: ChromaDB vector store queried through query_repair_standards (RAG). Catalogue of 17,099 dataset images queried through lookup_dataset_image.</a:t>
            </a:r>
            <a:endParaRPr lang="en-US" sz="1050" dirty="0"/>
          </a:p>
        </p:txBody>
      </p:sp>
      <p:sp>
        <p:nvSpPr>
          <p:cNvPr id="17" name="Arrow pillar-arrow-1"/>
          <p:cNvSpPr/>
          <p:nvPr/>
        </p:nvSpPr>
        <p:spPr>
          <a:xfrm flipH="1">
            <a:off x="7191756" y="2514600"/>
            <a:ext cx="882396" cy="64008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Pillar 2"/>
          <p:cNvSpPr/>
          <p:nvPr/>
        </p:nvSpPr>
        <p:spPr>
          <a:xfrm>
            <a:off x="457200" y="45720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Pillar dot 2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Pillar num 2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Pillar head 2"/>
          <p:cNvSpPr txBox="1"/>
          <p:nvPr/>
        </p:nvSpPr>
        <p:spPr>
          <a:xfrm>
            <a:off x="1234440" y="4727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3. Tools / Action space</a:t>
            </a:r>
            <a:endParaRPr lang="en-US" sz="1300" dirty="0"/>
          </a:p>
        </p:txBody>
      </p:sp>
      <p:sp>
        <p:nvSpPr>
          <p:cNvPr id="22" name="Pillar body 2"/>
          <p:cNvSpPr txBox="1"/>
          <p:nvPr/>
        </p:nvSpPr>
        <p:spPr>
          <a:xfrm>
            <a:off x="640080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check_hazard_severity (rule priority), request_additional_evidence (ask the reporter one thing), create_draft_work_order (DRAFT in SQLite), flag_for_urgent_review (approval row), lookup_dataset_image (SHA-256 + dHash in catalogue). The agent is the only node that writes.</a:t>
            </a:r>
            <a:endParaRPr lang="en-US" sz="1050" dirty="0"/>
          </a:p>
        </p:txBody>
      </p:sp>
      <p:sp>
        <p:nvSpPr>
          <p:cNvPr id="23" name="Arrow pillar-arrow-2"/>
          <p:cNvSpPr/>
          <p:nvPr/>
        </p:nvSpPr>
        <p:spPr>
          <a:xfrm flipV="1">
            <a:off x="4114800" y="4160520"/>
            <a:ext cx="882396" cy="132588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4" name="Pillar 3"/>
          <p:cNvSpPr/>
          <p:nvPr/>
        </p:nvSpPr>
        <p:spPr>
          <a:xfrm>
            <a:off x="8074152" y="45720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Pillar dot 3"/>
          <p:cNvSpPr/>
          <p:nvPr/>
        </p:nvSpPr>
        <p:spPr>
          <a:xfrm>
            <a:off x="8257032" y="47548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Pillar num 3"/>
          <p:cNvSpPr txBox="1"/>
          <p:nvPr/>
        </p:nvSpPr>
        <p:spPr>
          <a:xfrm>
            <a:off x="825703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Pillar head 3"/>
          <p:cNvSpPr txBox="1"/>
          <p:nvPr/>
        </p:nvSpPr>
        <p:spPr>
          <a:xfrm>
            <a:off x="8851392" y="4727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4. Perception / Sensors</a:t>
            </a:r>
            <a:endParaRPr lang="en-US" sz="1300" dirty="0"/>
          </a:p>
        </p:txBody>
      </p:sp>
      <p:sp>
        <p:nvSpPr>
          <p:cNvPr id="28" name="Pillar body 3"/>
          <p:cNvSpPr txBox="1"/>
          <p:nvPr/>
        </p:nvSpPr>
        <p:spPr>
          <a:xfrm>
            <a:off x="8257032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Multimodal input assembled by the pipeline: YOLO detections and class probabilities (vision), image quality signals (blur, OCR), reporter free text, metadata (road type, lane blocked, location), image fingerprints (SHA-256 + perceptual hash), RAG passages.</a:t>
            </a:r>
            <a:endParaRPr lang="en-US" sz="1050" dirty="0"/>
          </a:p>
        </p:txBody>
      </p:sp>
      <p:sp>
        <p:nvSpPr>
          <p:cNvPr id="29" name="Arrow pillar-arrow-3"/>
          <p:cNvSpPr/>
          <p:nvPr/>
        </p:nvSpPr>
        <p:spPr>
          <a:xfrm flipH="1" flipV="1">
            <a:off x="7191756" y="4160520"/>
            <a:ext cx="882396" cy="13258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4"/>
                </a:solidFill>
              </a:rPr>
              <a:t>Citizen webapp: upload or live-drive, verdict in minutes</a:t>
            </a:r>
            <a:endParaRPr lang="en-US" sz="2800" dirty="0"/>
          </a:p>
        </p:txBody>
      </p:sp>
      <p:pic>
        <p:nvPicPr>
          <p:cNvPr id="3" name="Webapp landing" descr="C:/Users/OR/AppData/Local/Temp/claude/C--Users-OR-Downloads---------Data-Science-Project-RoadGuard/f106a3a9-6de5-4d01-ac20-2e52894a8f65/scratchpad/deck/img/webapp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760720" cy="4389120"/>
          </a:xfrm>
          <a:prstGeom prst="rect">
            <a:avLst/>
          </a:prstGeom>
        </p:spPr>
      </p:pic>
      <p:sp>
        <p:nvSpPr>
          <p:cNvPr id="4" name="Caption landing"/>
          <p:cNvSpPr txBox="1"/>
          <p:nvPr/>
        </p:nvSpPr>
        <p:spPr>
          <a:xfrm>
            <a:off x="457200" y="5669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Landing page: YOLOv8n runs in the browser, the photo stays on the device until submit.</a:t>
            </a:r>
            <a:endParaRPr lang="en-US" sz="1050" dirty="0"/>
          </a:p>
        </p:txBody>
      </p:sp>
      <p:sp>
        <p:nvSpPr>
          <p:cNvPr id="5" name="Verdict card"/>
          <p:cNvSpPr/>
          <p:nvPr/>
        </p:nvSpPr>
        <p:spPr>
          <a:xfrm>
            <a:off x="6675120" y="1234440"/>
            <a:ext cx="502920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25400">
            <a:solidFill>
              <a:srgbClr val="FCA5A5"/>
            </a:solidFill>
            <a:prstDash val="solid"/>
          </a:ln>
        </p:spPr>
      </p:sp>
      <p:sp>
        <p:nvSpPr>
          <p:cNvPr id="6" name="Verdict header"/>
          <p:cNvSpPr/>
          <p:nvPr/>
        </p:nvSpPr>
        <p:spPr>
          <a:xfrm>
            <a:off x="6675120" y="1234440"/>
            <a:ext cx="5029200" cy="685800"/>
          </a:xfrm>
          <a:prstGeom prst="roundRect">
            <a:avLst>
              <a:gd name="adj" fmla="val 18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Verdict head"/>
          <p:cNvSpPr txBox="1"/>
          <p:nvPr/>
        </p:nvSpPr>
        <p:spPr>
          <a:xfrm>
            <a:off x="6903720" y="1325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URGENT  </a:t>
            </a:r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priority 89</a:t>
            </a:r>
            <a:endParaRPr lang="en-US" sz="1800" dirty="0"/>
          </a:p>
        </p:txBody>
      </p:sp>
      <p:sp>
        <p:nvSpPr>
          <p:cNvPr id="8" name="Prio bar bg"/>
          <p:cNvSpPr/>
          <p:nvPr/>
        </p:nvSpPr>
        <p:spPr>
          <a:xfrm>
            <a:off x="6903720" y="2057400"/>
            <a:ext cx="4572000" cy="10972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Prio bar fill"/>
          <p:cNvSpPr/>
          <p:nvPr/>
        </p:nvSpPr>
        <p:spPr>
          <a:xfrm>
            <a:off x="6903720" y="2057400"/>
            <a:ext cx="406908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Verdict headline"/>
          <p:cNvSpPr txBox="1"/>
          <p:nvPr/>
        </p:nvSpPr>
        <p:spPr>
          <a:xfrm>
            <a:off x="69037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4"/>
                </a:solidFill>
              </a:rPr>
              <a:t>Urgent dispatch recommended</a:t>
            </a:r>
            <a:endParaRPr lang="en-US" sz="1400" dirty="0"/>
          </a:p>
        </p:txBody>
      </p:sp>
      <p:sp>
        <p:nvSpPr>
          <p:cNvPr id="11" name="Verdict summary"/>
          <p:cNvSpPr txBox="1"/>
          <p:nvPr/>
        </p:nvSpPr>
        <p:spPr>
          <a:xfrm>
            <a:off x="69037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Flagged for urgent inspection. A municipal supervisor reviews it before any work is scheduled.</a:t>
            </a:r>
            <a:endParaRPr lang="en-US" sz="1100" dirty="0"/>
          </a:p>
        </p:txBody>
      </p:sp>
      <p:sp>
        <p:nvSpPr>
          <p:cNvPr id="12" name="Cited label"/>
          <p:cNvSpPr txBox="1"/>
          <p:nvPr/>
        </p:nvSpPr>
        <p:spPr>
          <a:xfrm>
            <a:off x="69037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Grounded in:  </a:t>
            </a:r>
            <a:endParaRPr lang="en-US" sz="1000" dirty="0"/>
          </a:p>
        </p:txBody>
      </p:sp>
      <p:sp>
        <p:nvSpPr>
          <p:cNvPr id="13" name="Cite sec-2.1"/>
          <p:cNvSpPr/>
          <p:nvPr/>
        </p:nvSpPr>
        <p:spPr>
          <a:xfrm>
            <a:off x="8046720" y="324612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F3F6FC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4" name="Cite text sec-2.1"/>
          <p:cNvSpPr txBox="1"/>
          <p:nvPr/>
        </p:nvSpPr>
        <p:spPr>
          <a:xfrm>
            <a:off x="8046720" y="32461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sec-2.1</a:t>
            </a:r>
            <a:endParaRPr lang="en-US" sz="900" dirty="0"/>
          </a:p>
        </p:txBody>
      </p:sp>
      <p:sp>
        <p:nvSpPr>
          <p:cNvPr id="15" name="Cite sec-4.3"/>
          <p:cNvSpPr/>
          <p:nvPr/>
        </p:nvSpPr>
        <p:spPr>
          <a:xfrm>
            <a:off x="8915400" y="324612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F3F6FC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6" name="Cite text sec-4.3"/>
          <p:cNvSpPr txBox="1"/>
          <p:nvPr/>
        </p:nvSpPr>
        <p:spPr>
          <a:xfrm>
            <a:off x="8915400" y="324612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sec-4.3</a:t>
            </a:r>
            <a:endParaRPr lang="en-US" sz="900" dirty="0"/>
          </a:p>
        </p:txBody>
      </p:sp>
      <p:sp>
        <p:nvSpPr>
          <p:cNvPr id="17" name="Verdict guidance"/>
          <p:cNvSpPr txBox="1"/>
          <p:nvPr/>
        </p:nvSpPr>
        <p:spPr>
          <a:xfrm>
            <a:off x="690372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Approve to notify the on-call maintenance crew. The approval is logged against this case.</a:t>
            </a:r>
            <a:endParaRPr lang="en-US" sz="1100" dirty="0"/>
          </a:p>
        </p:txBody>
      </p:sp>
      <p:sp>
        <p:nvSpPr>
          <p:cNvPr id="18" name="Btn 0"/>
          <p:cNvSpPr/>
          <p:nvPr/>
        </p:nvSpPr>
        <p:spPr>
          <a:xfrm>
            <a:off x="6903720" y="425196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Btn text 0"/>
          <p:cNvSpPr txBox="1"/>
          <p:nvPr/>
        </p:nvSpPr>
        <p:spPr>
          <a:xfrm>
            <a:off x="690372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</a:t>
            </a:r>
            <a:endParaRPr lang="en-US" sz="1200" dirty="0"/>
          </a:p>
        </p:txBody>
      </p:sp>
      <p:sp>
        <p:nvSpPr>
          <p:cNvPr id="20" name="Btn 1"/>
          <p:cNvSpPr/>
          <p:nvPr/>
        </p:nvSpPr>
        <p:spPr>
          <a:xfrm>
            <a:off x="9281160" y="425196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Btn text 1"/>
          <p:cNvSpPr txBox="1"/>
          <p:nvPr/>
        </p:nvSpPr>
        <p:spPr>
          <a:xfrm>
            <a:off x="928116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Override to standard</a:t>
            </a:r>
            <a:endParaRPr lang="en-US" sz="1200" dirty="0"/>
          </a:p>
        </p:txBody>
      </p:sp>
      <p:sp>
        <p:nvSpPr>
          <p:cNvPr id="22" name="Case ref"/>
          <p:cNvSpPr txBox="1"/>
          <p:nvPr/>
        </p:nvSpPr>
        <p:spPr>
          <a:xfrm>
            <a:off x="690372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case hz_949b694d  -  Jabotinsky 120, Ramat Gan  -  D40 (conf 0.88)  -  reported 24.10.2026 10:15</a:t>
            </a:r>
            <a:endParaRPr lang="en-US" sz="950" dirty="0"/>
          </a:p>
        </p:txBody>
      </p:sp>
      <p:sp>
        <p:nvSpPr>
          <p:cNvPr id="23" name="Caption verdict"/>
          <p:cNvSpPr txBox="1"/>
          <p:nvPr/>
        </p:nvSpPr>
        <p:spPr>
          <a:xfrm>
            <a:off x="667512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Verdict shown to the reporter after submit (and to the supervisor on the approval page).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4"/>
                </a:solidFill>
              </a:rPr>
              <a:t>Oracle VM, local models, and the live trace</a:t>
            </a:r>
            <a:endParaRPr lang="en-US" sz="2800" dirty="0"/>
          </a:p>
        </p:txBody>
      </p:sp>
      <p:sp>
        <p:nvSpPr>
          <p:cNvPr id="3" name="Box reporter"/>
          <p:cNvSpPr/>
          <p:nvPr/>
        </p:nvSpPr>
        <p:spPr>
          <a:xfrm>
            <a:off x="457200" y="128016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Box text reporter"/>
          <p:cNvSpPr txBox="1"/>
          <p:nvPr/>
        </p:nvSpPr>
        <p:spPr>
          <a:xfrm>
            <a:off x="548640" y="12801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Reporter phone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webapp on GitHub Pages</a:t>
            </a:r>
            <a:endParaRPr lang="en-US" sz="1100" dirty="0"/>
          </a:p>
        </p:txBody>
      </p:sp>
      <p:sp>
        <p:nvSpPr>
          <p:cNvPr id="5" name="Box tunnel"/>
          <p:cNvSpPr/>
          <p:nvPr/>
        </p:nvSpPr>
        <p:spPr>
          <a:xfrm>
            <a:off x="2651760" y="128016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Box text tunnel"/>
          <p:cNvSpPr txBox="1"/>
          <p:nvPr/>
        </p:nvSpPr>
        <p:spPr>
          <a:xfrm>
            <a:off x="2743200" y="12801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Cloudflare tunnel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HTTPS, public API only</a:t>
            </a:r>
            <a:endParaRPr lang="en-US" sz="1100" dirty="0"/>
          </a:p>
        </p:txBody>
      </p:sp>
      <p:sp>
        <p:nvSpPr>
          <p:cNvPr id="7" name="Box api"/>
          <p:cNvSpPr/>
          <p:nvPr/>
        </p:nvSpPr>
        <p:spPr>
          <a:xfrm>
            <a:off x="4846320" y="128016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Box text api"/>
          <p:cNvSpPr txBox="1"/>
          <p:nvPr/>
        </p:nvSpPr>
        <p:spPr>
          <a:xfrm>
            <a:off x="4937760" y="12801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FastAPI (uvicorn)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systemd on Oracle A1.Flex</a:t>
            </a:r>
            <a:endParaRPr lang="en-US" sz="1100" dirty="0"/>
          </a:p>
        </p:txBody>
      </p:sp>
      <p:sp>
        <p:nvSpPr>
          <p:cNvPr id="9" name="Arrow r-t"/>
          <p:cNvSpPr/>
          <p:nvPr/>
        </p:nvSpPr>
        <p:spPr>
          <a:xfrm>
            <a:off x="2331720" y="1609344"/>
            <a:ext cx="32004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Arrow t-a"/>
          <p:cNvSpPr/>
          <p:nvPr/>
        </p:nvSpPr>
        <p:spPr>
          <a:xfrm>
            <a:off x="4526280" y="1609344"/>
            <a:ext cx="32004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Box graph"/>
          <p:cNvSpPr/>
          <p:nvPr/>
        </p:nvSpPr>
        <p:spPr>
          <a:xfrm>
            <a:off x="4846320" y="219456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Box text graph"/>
          <p:cNvSpPr txBox="1"/>
          <p:nvPr/>
        </p:nvSpPr>
        <p:spPr>
          <a:xfrm>
            <a:off x="4937760" y="2194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LangGraph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supervisor + workers + Decision</a:t>
            </a:r>
            <a:endParaRPr lang="en-US" sz="1100" dirty="0"/>
          </a:p>
        </p:txBody>
      </p:sp>
      <p:sp>
        <p:nvSpPr>
          <p:cNvPr id="13" name="Arrow a-g"/>
          <p:cNvSpPr/>
          <p:nvPr/>
        </p:nvSpPr>
        <p:spPr>
          <a:xfrm>
            <a:off x="5783580" y="1938528"/>
            <a:ext cx="9144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Box ollama"/>
          <p:cNvSpPr/>
          <p:nvPr/>
        </p:nvSpPr>
        <p:spPr>
          <a:xfrm>
            <a:off x="457200" y="32004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Box text ollama"/>
          <p:cNvSpPr txBox="1"/>
          <p:nvPr/>
        </p:nvSpPr>
        <p:spPr>
          <a:xfrm>
            <a:off x="548640" y="32004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Ollama (Docker)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qwen2.5:7b + 7 more models</a:t>
            </a:r>
            <a:endParaRPr lang="en-US" sz="1100" dirty="0"/>
          </a:p>
        </p:txBody>
      </p:sp>
      <p:sp>
        <p:nvSpPr>
          <p:cNvPr id="16" name="Box chroma"/>
          <p:cNvSpPr/>
          <p:nvPr/>
        </p:nvSpPr>
        <p:spPr>
          <a:xfrm>
            <a:off x="2651760" y="32004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Box text chroma"/>
          <p:cNvSpPr txBox="1"/>
          <p:nvPr/>
        </p:nvSpPr>
        <p:spPr>
          <a:xfrm>
            <a:off x="2743200" y="32004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ChromaDB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repair standards + MiniLM</a:t>
            </a:r>
            <a:endParaRPr lang="en-US" sz="1100" dirty="0"/>
          </a:p>
        </p:txBody>
      </p:sp>
      <p:sp>
        <p:nvSpPr>
          <p:cNvPr id="18" name="Box sqlite"/>
          <p:cNvSpPr/>
          <p:nvPr/>
        </p:nvSpPr>
        <p:spPr>
          <a:xfrm>
            <a:off x="4846320" y="32004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3F6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Box text sqlite"/>
          <p:cNvSpPr txBox="1"/>
          <p:nvPr/>
        </p:nvSpPr>
        <p:spPr>
          <a:xfrm>
            <a:off x="4937760" y="32004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SQLite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hazards, approvals, catalogue, checkpoints</a:t>
            </a:r>
            <a:endParaRPr lang="en-US" sz="1100" dirty="0"/>
          </a:p>
        </p:txBody>
      </p:sp>
      <p:sp>
        <p:nvSpPr>
          <p:cNvPr id="20" name="Arrow g-o"/>
          <p:cNvSpPr/>
          <p:nvPr/>
        </p:nvSpPr>
        <p:spPr>
          <a:xfrm flipH="1">
            <a:off x="1394460" y="2852928"/>
            <a:ext cx="372618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Arrow g-c"/>
          <p:cNvSpPr/>
          <p:nvPr/>
        </p:nvSpPr>
        <p:spPr>
          <a:xfrm flipH="1">
            <a:off x="3589020" y="2852928"/>
            <a:ext cx="208026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Arrow g-s"/>
          <p:cNvSpPr/>
          <p:nvPr/>
        </p:nvSpPr>
        <p:spPr>
          <a:xfrm>
            <a:off x="5783580" y="2852928"/>
            <a:ext cx="9144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Box operator"/>
          <p:cNvSpPr/>
          <p:nvPr/>
        </p:nvSpPr>
        <p:spPr>
          <a:xfrm>
            <a:off x="457200" y="420624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Box text operator"/>
          <p:cNvSpPr txBox="1"/>
          <p:nvPr/>
        </p:nvSpPr>
        <p:spPr>
          <a:xfrm>
            <a:off x="548640" y="42062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Operator phone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Tailscale device</a:t>
            </a:r>
            <a:endParaRPr lang="en-US" sz="1100" dirty="0"/>
          </a:p>
        </p:txBody>
      </p:sp>
      <p:sp>
        <p:nvSpPr>
          <p:cNvPr id="25" name="Box caddy"/>
          <p:cNvSpPr/>
          <p:nvPr/>
        </p:nvSpPr>
        <p:spPr>
          <a:xfrm>
            <a:off x="2651760" y="420624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Box text caddy"/>
          <p:cNvSpPr txBox="1"/>
          <p:nvPr/>
        </p:nvSpPr>
        <p:spPr>
          <a:xfrm>
            <a:off x="2743200" y="42062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Tailscale + Caddy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basicauth, private network</a:t>
            </a:r>
            <a:endParaRPr lang="en-US" sz="1100" dirty="0"/>
          </a:p>
        </p:txBody>
      </p:sp>
      <p:sp>
        <p:nvSpPr>
          <p:cNvPr id="27" name="Box trace"/>
          <p:cNvSpPr/>
          <p:nvPr/>
        </p:nvSpPr>
        <p:spPr>
          <a:xfrm>
            <a:off x="4846320" y="420624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Box text trace"/>
          <p:cNvSpPr txBox="1"/>
          <p:nvPr/>
        </p:nvSpPr>
        <p:spPr>
          <a:xfrm>
            <a:off x="4937760" y="42062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/trace terminal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404 for any public host</a:t>
            </a:r>
            <a:endParaRPr lang="en-US" sz="1100" dirty="0"/>
          </a:p>
        </p:txBody>
      </p:sp>
      <p:sp>
        <p:nvSpPr>
          <p:cNvPr id="29" name="Arrow o-c"/>
          <p:cNvSpPr/>
          <p:nvPr/>
        </p:nvSpPr>
        <p:spPr>
          <a:xfrm>
            <a:off x="2331720" y="4535424"/>
            <a:ext cx="32004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Arrow c-t"/>
          <p:cNvSpPr/>
          <p:nvPr/>
        </p:nvSpPr>
        <p:spPr>
          <a:xfrm>
            <a:off x="4526280" y="4535424"/>
            <a:ext cx="32004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VM caption"/>
          <p:cNvSpPr txBox="1"/>
          <p:nvPr/>
        </p:nvSpPr>
        <p:spPr>
          <a:xfrm>
            <a:off x="457200" y="502920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VM: Ubuntu 24.04, 4 OCPU Ampere ARM, 24 GB RAM, Always Free. Two concurrent runs; the rest queue.</a:t>
            </a:r>
            <a:endParaRPr lang="en-US" sz="1050" dirty="0"/>
          </a:p>
        </p:txBody>
      </p:sp>
      <p:sp>
        <p:nvSpPr>
          <p:cNvPr id="32" name="Models head"/>
          <p:cNvSpPr txBox="1"/>
          <p:nvPr/>
        </p:nvSpPr>
        <p:spPr>
          <a:xfrm>
            <a:off x="457200" y="54406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Local models (Ollama, zero API cost)</a:t>
            </a:r>
            <a:endParaRPr lang="en-US" sz="1200" dirty="0"/>
          </a:p>
        </p:txBody>
      </p:sp>
      <p:sp>
        <p:nvSpPr>
          <p:cNvPr id="33" name="Chip 0"/>
          <p:cNvSpPr/>
          <p:nvPr/>
        </p:nvSpPr>
        <p:spPr>
          <a:xfrm>
            <a:off x="457200" y="57607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Chip text 0"/>
          <p:cNvSpPr txBox="1"/>
          <p:nvPr/>
        </p:nvSpPr>
        <p:spPr>
          <a:xfrm>
            <a:off x="530352" y="57607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qwen2.5:7b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every LLM call</a:t>
            </a:r>
            <a:endParaRPr lang="en-US" sz="950" dirty="0"/>
          </a:p>
        </p:txBody>
      </p:sp>
      <p:sp>
        <p:nvSpPr>
          <p:cNvPr id="35" name="Chip 1"/>
          <p:cNvSpPr/>
          <p:nvPr/>
        </p:nvSpPr>
        <p:spPr>
          <a:xfrm>
            <a:off x="2578608" y="57607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Chip text 1"/>
          <p:cNvSpPr txBox="1"/>
          <p:nvPr/>
        </p:nvSpPr>
        <p:spPr>
          <a:xfrm>
            <a:off x="2651760" y="57607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llama3.1:8b, qwen2.5:3b, gemma2:2b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vote panel</a:t>
            </a:r>
            <a:endParaRPr lang="en-US" sz="950" dirty="0"/>
          </a:p>
        </p:txBody>
      </p:sp>
      <p:sp>
        <p:nvSpPr>
          <p:cNvPr id="37" name="Chip 2"/>
          <p:cNvSpPr/>
          <p:nvPr/>
        </p:nvSpPr>
        <p:spPr>
          <a:xfrm>
            <a:off x="4700016" y="57607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3F6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Chip text 2"/>
          <p:cNvSpPr txBox="1"/>
          <p:nvPr/>
        </p:nvSpPr>
        <p:spPr>
          <a:xfrm>
            <a:off x="4773168" y="57607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phi3.5, granite3.3:2b, llama3.2:3b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installed, available</a:t>
            </a:r>
            <a:endParaRPr lang="en-US" sz="950" dirty="0"/>
          </a:p>
        </p:txBody>
      </p:sp>
      <p:pic>
        <p:nvPicPr>
          <p:cNvPr id="39" name="Trace phone" descr="C:/Users/OR/AppData/Local/Temp/claude/C--Users-OR-Downloads---------Data-Science-Project-RoadGuard/f106a3a9-6de5-4d01-ac20-2e52894a8f65/scratchpad/deck/img/trace-ph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188720"/>
            <a:ext cx="2103120" cy="4572000"/>
          </a:xfrm>
          <a:prstGeom prst="rect">
            <a:avLst/>
          </a:prstGeom>
        </p:spPr>
      </p:pic>
      <p:sp>
        <p:nvSpPr>
          <p:cNvPr id="40" name="Trace caption"/>
          <p:cNvSpPr txBox="1"/>
          <p:nvPr/>
        </p:nvSpPr>
        <p:spPr>
          <a:xfrm>
            <a:off x="7040880" y="5806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Live trace on a phone - one formatter feeds /report, the page, and the VM journal.</a:t>
            </a:r>
            <a:endParaRPr lang="en-US" sz="950" dirty="0"/>
          </a:p>
        </p:txBody>
      </p:sp>
      <p:sp>
        <p:nvSpPr>
          <p:cNvPr id="41" name="Trace head"/>
          <p:cNvSpPr txBox="1"/>
          <p:nvPr/>
        </p:nvSpPr>
        <p:spPr>
          <a:xfrm>
            <a:off x="9326880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4"/>
                </a:solidFill>
              </a:rPr>
              <a:t>Live agent trace</a:t>
            </a:r>
            <a:endParaRPr lang="en-US" sz="1600" dirty="0"/>
          </a:p>
        </p:txBody>
      </p:sp>
      <p:sp>
        <p:nvSpPr>
          <p:cNvPr id="42" name="Trace items"/>
          <p:cNvSpPr txBox="1"/>
          <p:nvPr/>
        </p:nvSpPr>
        <p:spPr>
          <a:xfrm>
            <a:off x="9326880" y="1600200"/>
            <a:ext cx="2423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Terminal rendering, not a dashboard: one line per node, decision on the same line, handoff lines between agents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Each node line carries HH:MM:SS, llm model+latency+tokens, and the ReAct hop-by-hop reasoning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Opening screen = /status banner (host load, models, RAG, DB, dataset count, shortcuts, missing items)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Private: served only through Tailscale + Caddy; the public tunnel returns 404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4"/>
                </a:solidFill>
              </a:rPr>
              <a:t>Trade-offs taken, and what another month would add</a:t>
            </a:r>
            <a:endParaRPr lang="en-US" sz="2800" dirty="0"/>
          </a:p>
        </p:txBody>
      </p:sp>
      <p:sp>
        <p:nvSpPr>
          <p:cNvPr id="3" name="Tradeoffs col"/>
          <p:cNvSpPr/>
          <p:nvPr/>
        </p:nvSpPr>
        <p:spPr>
          <a:xfrm>
            <a:off x="457200" y="123444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3F6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radeoffs head"/>
          <p:cNvSpPr txBox="1"/>
          <p:nvPr/>
        </p:nvSpPr>
        <p:spPr>
          <a:xfrm>
            <a:off x="68580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4"/>
                </a:solidFill>
              </a:rPr>
              <a:t>Trade-offs during the project</a:t>
            </a:r>
            <a:endParaRPr lang="en-US" sz="1700" dirty="0"/>
          </a:p>
        </p:txBody>
      </p:sp>
      <p:sp>
        <p:nvSpPr>
          <p:cNvPr id="5" name="Tradeoffs items"/>
          <p:cNvSpPr txBox="1"/>
          <p:nvPr/>
        </p:nvSpPr>
        <p:spPr>
          <a:xfrm>
            <a:off x="685800" y="210312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44"/>
                </a:solidFill>
              </a:rPr>
              <a:t>Local Ollama vs cloud LLMs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chose local for zero cost and no reporter text leaving the VM. The price: 60-120 s per Decision call on ARM CPU, vs a few seconds in the cloud. The async submit absorbs this.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44"/>
                </a:solidFill>
              </a:rPr>
              <a:t>Determinism first, LLM as refiner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every LLM path has a deterministic fallback; the rule tree beats the model on safety-critical actions. Lost: some LLM nuance. Gained: no verdict can be worse than the rule tree.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44"/>
                </a:solidFill>
              </a:rPr>
              <a:t>One true agent (Decision) vs multi-agent collaboration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a single ReAct agent with 5 tools, rather than N agents arguing. Easier to debug, easier to bound. Trade: no cross-agent self-critique; it is a to-do.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44"/>
                </a:solidFill>
              </a:rPr>
              <a:t>Two consolidated Python files, not a package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one source of truth for the team hand-off, every former module keeps its section marker. Trade: a bigger diff per change; easier onboarding.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1F44"/>
                </a:solidFill>
              </a:rPr>
              <a:t>known_image short-circuit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0F172A"/>
                </a:solidFill>
              </a:rPr>
              <a:t>a catalogued photo gets a known_image verdict with no LLM call and no approval row. Trade: a bad actor could claim a hash to skip triage; the catalogue is read-only, but worth adding server-side proof later.</a:t>
            </a:r>
            <a:endParaRPr lang="en-US" sz="1150" dirty="0"/>
          </a:p>
        </p:txBody>
      </p:sp>
      <p:sp>
        <p:nvSpPr>
          <p:cNvPr id="6" name="Nextsteps col"/>
          <p:cNvSpPr/>
          <p:nvPr/>
        </p:nvSpPr>
        <p:spPr>
          <a:xfrm>
            <a:off x="6245352" y="123444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Next head"/>
          <p:cNvSpPr txBox="1"/>
          <p:nvPr/>
        </p:nvSpPr>
        <p:spPr>
          <a:xfrm>
            <a:off x="6473952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4"/>
                </a:solidFill>
              </a:rPr>
              <a:t>Another month: what I would add</a:t>
            </a:r>
            <a:endParaRPr lang="en-US" sz="1700" dirty="0"/>
          </a:p>
        </p:txBody>
      </p:sp>
      <p:sp>
        <p:nvSpPr>
          <p:cNvPr id="8" name="Next items"/>
          <p:cNvSpPr txBox="1"/>
          <p:nvPr/>
        </p:nvSpPr>
        <p:spPr>
          <a:xfrm>
            <a:off x="6519672" y="2103120"/>
            <a:ext cx="4983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Named Cloudflare tunnel + a proper DNS record (replaces the quick-tunnel URL that rotates).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GPU inference for Ollama (would cut Decision latency 5-10x). The ARM VM is CPU-only today.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Live-drive flow converted to async with a background queue (today it is still synchronous, limited by Cloudflare's 100 s edge).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Hard wall-clock cap inside nodes, not just at supervisor visits.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Multi-agent collaboration pattern: a second LLM 'critic' that reviews Decision's verdict against the policy and the RAG result.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Admin dashboard for the municipality (SLA tracking, map, pattern detection on recurring hazards).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Mobile push notifications on verdict instead of e-mail; the webapp already carries the hazard id for deep-linking.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A/B threshold tuning on live traffic (today 0.35 is a fixed choice; different cities might want different).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Server-side proof-of-photo for the known_image action (sign the hash from a trusted uploader to close the spoof hole).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Guard">
  <a:themeElements>
    <a:clrScheme name="RoadGuard">
      <a:dk1>
        <a:srgbClr val="0F172A"/>
      </a:dk1>
      <a:lt1>
        <a:srgbClr val="FFFFFF"/>
      </a:lt1>
      <a:dk2>
        <a:srgbClr val="0B1F44"/>
      </a:dk2>
      <a:lt2>
        <a:srgbClr val="F3F6FC"/>
      </a:lt2>
      <a:accent1>
        <a:srgbClr val="1D4ED8"/>
      </a:accent1>
      <a:accent2>
        <a:srgbClr val="16A34A"/>
      </a:accent2>
      <a:accent3>
        <a:srgbClr val="0EA5E9"/>
      </a:accent3>
      <a:accent4>
        <a:srgbClr val="F59E0B"/>
      </a:accent4>
      <a:accent5>
        <a:srgbClr val="64748B"/>
      </a:accent5>
      <a:accent6>
        <a:srgbClr val="DC2626"/>
      </a:accent6>
      <a:hlink>
        <a:srgbClr val="1D4ED8"/>
      </a:hlink>
      <a:folHlink>
        <a:srgbClr val="7C3AED"/>
      </a:folHlink>
    </a:clrScheme>
    <a:fontScheme name="Road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RoadGuard - the AI agent layer</dc:title>
  <dc:subject>PptxGenJS Presentation</dc:subject>
  <dc:creator>RoadGuard</dc:creator>
  <cp:lastModifiedBy>RoadGuard</cp:lastModifiedBy>
  <cp:revision>1</cp:revision>
  <dcterms:created xsi:type="dcterms:W3CDTF">2026-10-24T10:49:21Z</dcterms:created>
  <dcterms:modified xsi:type="dcterms:W3CDTF">2026-10-24T10:49:21Z</dcterms:modified>
</cp:coreProperties>
</file>